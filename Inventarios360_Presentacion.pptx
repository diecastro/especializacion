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058400" cy="29260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54864" cy="2926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alibri"/>
              </a:rPr>
              <a:t>TRABAJO DE GRADO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Especialización en Inteligencia de Negocios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Inventarios 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Inteligencia de Negocios Aplicada para la
Optimización de Inventarios de Cosméticos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63440"/>
            <a:ext cx="10058400" cy="164592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54864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736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Participantes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74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Isabella Orozco Jordán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Diego Alonso Castro Díaz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Manuela Idárraga Gómez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5029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4A6E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43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PROBLEMA A SOLUCIONAR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2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960120"/>
            <a:ext cx="4937760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960120"/>
            <a:ext cx="54864" cy="5760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078992"/>
            <a:ext cx="46634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090"/>
                </a:solidFill>
                <a:latin typeface="Calibri"/>
              </a:rPr>
              <a:t>Contexto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E3B"/>
                </a:solidFill>
                <a:latin typeface="Calibri"/>
              </a:rPr>
              <a:t>Empresa de venta por catálogo (textiles) que incursiona en cosméticos sin herramientas analíticas para gestionar su nuevo inventario.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1A2E3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090"/>
                </a:solidFill>
                <a:latin typeface="Calibri"/>
              </a:rPr>
              <a:t>Problemáticas identificadas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E3B"/>
                </a:solidFill>
                <a:latin typeface="Calibri"/>
              </a:rPr>
              <a:t>▸  Datos de SAP no explotados eficientemente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E3B"/>
                </a:solidFill>
                <a:latin typeface="Calibri"/>
              </a:rPr>
              <a:t>▸  Productos con baja rotación sin estrategias de salida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E3B"/>
                </a:solidFill>
                <a:latin typeface="Calibri"/>
              </a:rPr>
              <a:t>▸  Inventario próximo a vencerse sin acciones oportunas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E3B"/>
                </a:solidFill>
                <a:latin typeface="Calibri"/>
              </a:rPr>
              <a:t>▸  Pérdidas por productos vencidos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E3B"/>
                </a:solidFill>
                <a:latin typeface="Calibri"/>
              </a:rPr>
              <a:t>▸  Desarticulación entre áreas: mercadeo, canales y sostenibilidad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960120"/>
            <a:ext cx="6766560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0241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Calibri"/>
              </a:rPr>
              <a:t>Árbol de Problemas</a:t>
            </a:r>
          </a:p>
        </p:txBody>
      </p:sp>
      <p:pic>
        <p:nvPicPr>
          <p:cNvPr id="12" name="Picture 11" descr="Árbol de problema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371600"/>
            <a:ext cx="65836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43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JUSTIFICACIÓN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3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430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CAUSA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9164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E3B"/>
                </a:solidFill>
                <a:latin typeface="Calibri"/>
              </a:rPr>
              <a:t>Baja explotación de datos SAP y ausencia de herramientas analíticas en la gestión de cosméticos.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1430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EFECTO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169164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E3B"/>
                </a:solidFill>
                <a:latin typeface="Calibri"/>
              </a:rPr>
              <a:t>Acumulación de inventario sin rotación, vencimientos no gestionados y pérdidas económicas.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1430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SOLUCIÓN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9164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E3B"/>
                </a:solidFill>
                <a:latin typeface="Calibri"/>
              </a:rPr>
              <a:t>Modelo de BI que clasifique el inventario y genere visualizaciones dinámicas para la toma de decisiones.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09728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097280"/>
            <a:ext cx="27432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1430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RESULTADO ESPERADO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9164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E3B"/>
                </a:solidFill>
                <a:latin typeface="Calibri"/>
              </a:rPr>
              <a:t>Mejora en rotación, reducción de vencidos y mayor alineación entre áreas de la organización.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43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4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64008" cy="1188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417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Desarrollar un modelo de BI que permita visualizar, analizar y optimizar la gestión del inventario de productos cosméticos, facilitando la toma de decisiones estratégicas.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23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OBJETIVOS ESPECÍFICOS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4572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0292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063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4436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B"/>
                </a:solidFill>
                <a:latin typeface="Calibri"/>
              </a:rPr>
              <a:t>Analizar el dataset de inventario proveniente de SAP.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4572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931920"/>
            <a:ext cx="50292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60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164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B"/>
                </a:solidFill>
                <a:latin typeface="Calibri"/>
              </a:rPr>
              <a:t>Diseñar indicadores clave (KPIs) para clasificación del inventario.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4572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029200"/>
            <a:ext cx="50292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257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3892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B"/>
                </a:solidFill>
                <a:latin typeface="Calibri"/>
              </a:rPr>
              <a:t>Construir un modelo de segmentación de inventario (rotación, vencimiento, estado).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834640"/>
            <a:ext cx="53949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834640"/>
            <a:ext cx="50292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063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94436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B"/>
                </a:solidFill>
                <a:latin typeface="Calibri"/>
              </a:rPr>
              <a:t>Desarrollar dashboards interactivos para visualización del inventario.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931920"/>
            <a:ext cx="53949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931920"/>
            <a:ext cx="50292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160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04164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3B"/>
                </a:solidFill>
                <a:latin typeface="Calibri"/>
              </a:rPr>
              <a:t>Generar alertas o recomendaciones accionables para las diferentes áreas.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43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5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554480"/>
            <a:ext cx="157276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554480"/>
            <a:ext cx="157276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60020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2148840"/>
            <a:ext cx="14264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28090"/>
                </a:solidFill>
                <a:latin typeface="Calibri"/>
              </a:rPr>
              <a:t>Comprensión
del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292608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Contexto, stakeholders, objetivos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943" y="329183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8090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83664" y="1554480"/>
            <a:ext cx="157276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83664" y="1554480"/>
            <a:ext cx="1572768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83664" y="160020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6" y="2148840"/>
            <a:ext cx="14264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3A5C"/>
                </a:solidFill>
                <a:latin typeface="Calibri"/>
              </a:rPr>
              <a:t>Comprensión
de los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92608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EDA, calidad, variables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329183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8090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11296" y="1554480"/>
            <a:ext cx="157276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11296" y="1554480"/>
            <a:ext cx="157276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160020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2148840"/>
            <a:ext cx="14264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28090"/>
                </a:solidFill>
                <a:latin typeface="Calibri"/>
              </a:rPr>
              <a:t>Preparación
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292608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Limpieza, transformación,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7" y="329183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8090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54480"/>
            <a:ext cx="157276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8928" y="1554480"/>
            <a:ext cx="1572768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160020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148840"/>
            <a:ext cx="14264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3A5C"/>
                </a:solidFill>
                <a:latin typeface="Calibri"/>
              </a:rPr>
              <a:t>Modelado
Analítico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92608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Segmentación por reglas de negocio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29183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8090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1554480"/>
            <a:ext cx="157276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1554480"/>
            <a:ext cx="157276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160020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148840"/>
            <a:ext cx="14264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28090"/>
                </a:solidFill>
                <a:latin typeface="Calibri"/>
              </a:rPr>
              <a:t>Arquitectura
BI (Kimball)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92608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Modelo dimensional, KPIs, Power BI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329183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8090"/>
                </a:solidFill>
                <a:latin typeface="Calibri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94192" y="1554480"/>
            <a:ext cx="157276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94192" y="1554480"/>
            <a:ext cx="1572768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160020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2148840"/>
            <a:ext cx="14264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3A5C"/>
                </a:solidFill>
                <a:latin typeface="Calibri"/>
              </a:rPr>
              <a:t>Evaluación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7344" y="292608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Validación con usuarios, ajustes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6104" y="3291839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8090"/>
                </a:solidFill>
                <a:latin typeface="Calibri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21824" y="1554480"/>
            <a:ext cx="157276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21824" y="1554480"/>
            <a:ext cx="157276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21824" y="160020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94976" y="2148840"/>
            <a:ext cx="14264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28090"/>
                </a:solidFill>
                <a:latin typeface="Calibri"/>
              </a:rPr>
              <a:t>Despliegue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4976" y="292608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Dashboards, recomendaciones, 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43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ENTREGABLES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6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2148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21488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4420" y="1234440"/>
            <a:ext cx="512064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" y="126187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874519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  <a:latin typeface="Calibri"/>
              </a:rPr>
              <a:t>Dataset Limpio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423160"/>
            <a:ext cx="14173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542032"/>
            <a:ext cx="192938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2E3B"/>
                </a:solidFill>
                <a:latin typeface="Calibri"/>
              </a:rPr>
              <a:t>Análisis exploratorio, calidad de datos, variables clave e inconsistencias identificadas.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1176" y="1097280"/>
            <a:ext cx="2148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51176" y="1097280"/>
            <a:ext cx="21488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9563" y="1234440"/>
            <a:ext cx="512064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9563" y="126187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2616" y="1874519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  <a:latin typeface="Calibri"/>
              </a:rPr>
              <a:t>KPIs Definidos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16936" y="2423160"/>
            <a:ext cx="14173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60904" y="2542032"/>
            <a:ext cx="192938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2E3B"/>
                </a:solidFill>
                <a:latin typeface="Calibri"/>
              </a:rPr>
              <a:t>Días en inventario, rotación, % próximo a vencer, % vencido. Con fórmulas y propósito.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097280"/>
            <a:ext cx="2148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1097280"/>
            <a:ext cx="21488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4708" y="1234440"/>
            <a:ext cx="512064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4708" y="126187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874519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  <a:latin typeface="Calibri"/>
              </a:rPr>
              <a:t>Modelo de Segmentación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423160"/>
            <a:ext cx="14173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6048" y="2542032"/>
            <a:ext cx="192938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2E3B"/>
                </a:solidFill>
                <a:latin typeface="Calibri"/>
              </a:rPr>
              <a:t>Alta/baja rotación · Próximo a vencerse · Vencido. Basado en reglas de negocio.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41464" y="1097280"/>
            <a:ext cx="2148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41464" y="1097280"/>
            <a:ext cx="21488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9852" y="1234440"/>
            <a:ext cx="512064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9852" y="126187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1874519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  <a:latin typeface="Calibri"/>
              </a:rPr>
              <a:t>Dashboard Power BI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07224" y="2423160"/>
            <a:ext cx="14173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1192" y="2542032"/>
            <a:ext cx="192938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2E3B"/>
                </a:solidFill>
                <a:latin typeface="Calibri"/>
              </a:rPr>
              <a:t>Visualización interactiva con filtros, segmentadores y KPIs en tiempo real.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36608" y="1097280"/>
            <a:ext cx="2148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36608" y="1097280"/>
            <a:ext cx="21488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54996" y="1234440"/>
            <a:ext cx="512064" cy="5120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54996" y="126187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8048" y="1874519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  <a:latin typeface="Calibri"/>
              </a:rPr>
              <a:t>Reglas de Negocio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02368" y="2423160"/>
            <a:ext cx="14173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46336" y="2542032"/>
            <a:ext cx="192938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2E3B"/>
                </a:solidFill>
                <a:latin typeface="Calibri"/>
              </a:rPr>
              <a:t>Baja rotación → Canales · Próximo a vencer → Mercadeo · Vencido → Sostenibilidad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43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CRONOGRAMA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7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51560"/>
            <a:ext cx="55778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088136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N°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088136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Actividad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088136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1088136"/>
            <a:ext cx="603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Inicio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088136"/>
            <a:ext cx="603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399031"/>
            <a:ext cx="5577840" cy="3383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1435607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435607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Comprensión del negocio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435607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1435607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23/03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1435607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27/03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728216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1737360"/>
            <a:ext cx="5577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1773936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773936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Recolección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1773936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1773936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28/03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1773936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30/03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2066544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2075687"/>
            <a:ext cx="5577840" cy="3383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2112263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12263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Análisis exploratorio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8" y="2112263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112263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31/03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2112263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04/04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2404872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2414015"/>
            <a:ext cx="5577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2450591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450591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Limpieza de datos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0128" y="2450591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7328" y="2450591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05/04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2450591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10/04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2743200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2752344"/>
            <a:ext cx="5577840" cy="3383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2788920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788920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Transformación de datos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" y="2788920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67328" y="2788920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11/04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2788920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15/04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3081528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6032" y="3090672"/>
            <a:ext cx="5577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" y="3127248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127248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Definición de KPIs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0128" y="3127248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67328" y="3127248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16/04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07408" y="3127248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19/04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" y="3419856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6032" y="3428999"/>
            <a:ext cx="5577840" cy="3383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2608" y="3465575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3465575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Modelo de clasificación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0128" y="3465575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67328" y="3465575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20/04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07408" y="3465575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24/04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" y="3758183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6032" y="3767327"/>
            <a:ext cx="5577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" y="3803903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3803903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Validación reglas de negocio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10128" y="3803903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67328" y="3803903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25/04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07408" y="3803903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28/04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" y="4096511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55080" y="1051560"/>
            <a:ext cx="55778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91656" y="1088136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N°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65976" y="1088136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Actividad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09176" y="1088136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Días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66376" y="1088136"/>
            <a:ext cx="603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Inicio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06455" y="1088136"/>
            <a:ext cx="6035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Entrega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1399031"/>
            <a:ext cx="5577840" cy="3383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91656" y="1435607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65976" y="1435607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Modelo dimensional (Kimball)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09176" y="1435607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66376" y="1435607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29/04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06455" y="1435607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03/05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55080" y="1728216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355080" y="1737360"/>
            <a:ext cx="5577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91656" y="1773936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65976" y="1773936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Desarrollo Dashboard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09176" y="1773936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66376" y="1773936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04/05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06455" y="1773936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11/05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55080" y="2066544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5080" y="2075687"/>
            <a:ext cx="5577840" cy="3383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91656" y="2112263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65976" y="2112263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Ajustes Dashboard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09176" y="2112263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66376" y="2112263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12/05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06455" y="2112263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16/05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55080" y="2404872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355080" y="2414015"/>
            <a:ext cx="5577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91656" y="2450591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65976" y="2450591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Validación con usuarios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409176" y="2450591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66376" y="2450591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17/05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06455" y="2450591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19/05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55080" y="2743200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55080" y="2752344"/>
            <a:ext cx="5577840" cy="3383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91656" y="2788920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65976" y="2788920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Recomendaciones estratégicas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09176" y="2788920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66376" y="2788920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20/05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506455" y="2788920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22/05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55080" y="3081528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355080" y="3090672"/>
            <a:ext cx="55778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91656" y="3127248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65976" y="3127248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Documentación final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09176" y="3127248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866376" y="3127248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23/05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06455" y="3127248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27/05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355080" y="3419856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55080" y="3428999"/>
            <a:ext cx="5577840" cy="33832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91656" y="3465575"/>
            <a:ext cx="237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65976" y="3465575"/>
            <a:ext cx="2706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3B"/>
                </a:solidFill>
                <a:latin typeface="Calibri"/>
              </a:rPr>
              <a:t>Presentación del proyecto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409176" y="3465575"/>
            <a:ext cx="4206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66376" y="3465575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28/05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06455" y="3465575"/>
            <a:ext cx="603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E3B"/>
                </a:solidFill>
                <a:latin typeface="Calibri"/>
              </a:rPr>
              <a:t>29/05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55080" y="3758183"/>
            <a:ext cx="5577840" cy="9144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56032" y="649224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28090"/>
                </a:solidFill>
                <a:latin typeface="Calibri"/>
              </a:rPr>
              <a:t>Período: 23 mar – 29 may 2026  |  Duración total: 68 días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43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ESTADO DEL 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8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2743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27432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216152"/>
            <a:ext cx="512064" cy="5120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43584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47088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A3A5C"/>
                </a:solidFill>
                <a:latin typeface="Calibri"/>
              </a:rPr>
              <a:t>BI en distribuidores de belleza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560320"/>
            <a:ext cx="21031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670048"/>
            <a:ext cx="2523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2E3B"/>
                </a:solidFill>
                <a:latin typeface="Calibri"/>
              </a:rPr>
              <a:t>Implementación de BI que permite analizar el inventario en tiempo real, reduciendo sobrestock y faltantes.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806440"/>
            <a:ext cx="2523744" cy="4114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83387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28090"/>
                </a:solidFill>
                <a:latin typeface="Calibri"/>
              </a:rPr>
              <a:t>Repositorio CUN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1097280"/>
            <a:ext cx="2743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27248" y="1097280"/>
            <a:ext cx="27432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2816" y="1216152"/>
            <a:ext cx="512064" cy="5120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1243584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1847088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A3A5C"/>
                </a:solidFill>
                <a:latin typeface="Calibri"/>
              </a:rPr>
              <a:t>BI en la industria cosmética
(caso Yanbal)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47288" y="2560320"/>
            <a:ext cx="21031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6976" y="2670048"/>
            <a:ext cx="2523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2E3B"/>
                </a:solidFill>
                <a:latin typeface="Calibri"/>
              </a:rPr>
              <a:t>Solución BI con metodología Kimball para optimizar la toma de decisiones en planta de cosméticos.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36976" y="5806440"/>
            <a:ext cx="2523744" cy="4114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6976" y="583387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28090"/>
                </a:solidFill>
                <a:latin typeface="Calibri"/>
              </a:rPr>
              <a:t>Repositorio Autónoma (Perú)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98464" y="1097280"/>
            <a:ext cx="2743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98464" y="1097280"/>
            <a:ext cx="27432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14032" y="1216152"/>
            <a:ext cx="512064" cy="5120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1243584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1847088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A3A5C"/>
                </a:solidFill>
                <a:latin typeface="Calibri"/>
              </a:rPr>
              <a:t>Clasificación ABC en
inventarios de cosméticos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8504" y="2560320"/>
            <a:ext cx="21031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2670048"/>
            <a:ext cx="2523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2E3B"/>
                </a:solidFill>
                <a:latin typeface="Calibri"/>
              </a:rPr>
              <a:t>Análisis de cómo la categorización ABC de productos impacta la gestión logística en distribuidoras.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5806440"/>
            <a:ext cx="2523744" cy="4114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8192" y="583387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28090"/>
                </a:solidFill>
                <a:latin typeface="Calibri"/>
              </a:rPr>
              <a:t>Studocu / SENA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1097280"/>
            <a:ext cx="2743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0" y="1097280"/>
            <a:ext cx="27432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85248" y="1216152"/>
            <a:ext cx="512064" cy="5120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85248" y="1243584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7" y="1847088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A3A5C"/>
                </a:solidFill>
                <a:latin typeface="Calibri"/>
              </a:rPr>
              <a:t>BI para gestión de
inventarios en PYMES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19" y="2560320"/>
            <a:ext cx="21031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79407" y="2670048"/>
            <a:ext cx="2523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2E3B"/>
                </a:solidFill>
                <a:latin typeface="Calibri"/>
              </a:rPr>
              <a:t>Desarrollo de solución BI para administración del inventario en PYMES comerciales.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79407" y="5806440"/>
            <a:ext cx="2523744" cy="4114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79407" y="583387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28090"/>
                </a:solidFill>
                <a:latin typeface="Calibri"/>
              </a:rPr>
              <a:t>ESPOL — dspace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6784848"/>
            <a:ext cx="120243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9144000" cy="38404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64008" cy="3840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CONCLUSIÓN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Inventarios 360 transformará datos operativos de SAP
en decisiones estratégicas accionables.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54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▸  Reducción de pérdidas por vencimiento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▸  Mejora en la rotación de productos cosméticos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▸  Mayor alineación entre mercadeo, canales y sostenibilidad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626364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Especialización en Inteligencia de Negocios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